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0" r:id="rId2"/>
    <p:sldId id="281" r:id="rId3"/>
    <p:sldId id="282" r:id="rId4"/>
    <p:sldId id="283" r:id="rId5"/>
    <p:sldId id="284" r:id="rId6"/>
    <p:sldId id="278" r:id="rId7"/>
    <p:sldId id="285" r:id="rId8"/>
    <p:sldId id="27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987"/>
    <p:restoredTop sz="95025"/>
  </p:normalViewPr>
  <p:slideViewPr>
    <p:cSldViewPr snapToGrid="0">
      <p:cViewPr varScale="1">
        <p:scale>
          <a:sx n="92" d="100"/>
          <a:sy n="92" d="100"/>
        </p:scale>
        <p:origin x="208"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NTON WINTON" userId="103bbd66-b0b2-429b-a97c-94e4f38a7f08" providerId="ADAL" clId="{75B4419C-2BF2-5E7F-A75D-89CA7694E711}"/>
    <pc:docChg chg="custSel addSld delSld modSld">
      <pc:chgData name="WINTON WINTON" userId="103bbd66-b0b2-429b-a97c-94e4f38a7f08" providerId="ADAL" clId="{75B4419C-2BF2-5E7F-A75D-89CA7694E711}" dt="2026-09-19T07:15:40.536" v="313" actId="313"/>
      <pc:docMkLst>
        <pc:docMk/>
      </pc:docMkLst>
      <pc:sldChg chg="modSp mod">
        <pc:chgData name="WINTON WINTON" userId="103bbd66-b0b2-429b-a97c-94e4f38a7f08" providerId="ADAL" clId="{75B4419C-2BF2-5E7F-A75D-89CA7694E711}" dt="2026-09-19T07:15:40.536" v="313" actId="313"/>
        <pc:sldMkLst>
          <pc:docMk/>
          <pc:sldMk cId="3219088946" sldId="279"/>
        </pc:sldMkLst>
        <pc:spChg chg="mod">
          <ac:chgData name="WINTON WINTON" userId="103bbd66-b0b2-429b-a97c-94e4f38a7f08" providerId="ADAL" clId="{75B4419C-2BF2-5E7F-A75D-89CA7694E711}" dt="2026-09-19T07:09:52.018" v="279" actId="20577"/>
          <ac:spMkLst>
            <pc:docMk/>
            <pc:sldMk cId="3219088946" sldId="279"/>
            <ac:spMk id="2" creationId="{389BA49A-5479-FFF0-55A4-BA446BAE6702}"/>
          </ac:spMkLst>
        </pc:spChg>
        <pc:spChg chg="mod">
          <ac:chgData name="WINTON WINTON" userId="103bbd66-b0b2-429b-a97c-94e4f38a7f08" providerId="ADAL" clId="{75B4419C-2BF2-5E7F-A75D-89CA7694E711}" dt="2026-09-19T07:15:40.536" v="313" actId="313"/>
          <ac:spMkLst>
            <pc:docMk/>
            <pc:sldMk cId="3219088946" sldId="279"/>
            <ac:spMk id="3" creationId="{4DD61B8D-5803-8EEF-5A35-3F4059D3D4D6}"/>
          </ac:spMkLst>
        </pc:spChg>
      </pc:sldChg>
      <pc:sldChg chg="modSp new mod">
        <pc:chgData name="WINTON WINTON" userId="103bbd66-b0b2-429b-a97c-94e4f38a7f08" providerId="ADAL" clId="{75B4419C-2BF2-5E7F-A75D-89CA7694E711}" dt="2026-09-19T07:09:40.419" v="261" actId="20577"/>
        <pc:sldMkLst>
          <pc:docMk/>
          <pc:sldMk cId="162276922" sldId="285"/>
        </pc:sldMkLst>
        <pc:spChg chg="mod">
          <ac:chgData name="WINTON WINTON" userId="103bbd66-b0b2-429b-a97c-94e4f38a7f08" providerId="ADAL" clId="{75B4419C-2BF2-5E7F-A75D-89CA7694E711}" dt="2026-09-19T07:08:04.481" v="75" actId="20577"/>
          <ac:spMkLst>
            <pc:docMk/>
            <pc:sldMk cId="162276922" sldId="285"/>
            <ac:spMk id="2" creationId="{B1CCA9B0-7B44-898C-51C5-6448DD12DB32}"/>
          </ac:spMkLst>
        </pc:spChg>
        <pc:spChg chg="mod">
          <ac:chgData name="WINTON WINTON" userId="103bbd66-b0b2-429b-a97c-94e4f38a7f08" providerId="ADAL" clId="{75B4419C-2BF2-5E7F-A75D-89CA7694E711}" dt="2026-09-19T07:09:40.419" v="261" actId="20577"/>
          <ac:spMkLst>
            <pc:docMk/>
            <pc:sldMk cId="162276922" sldId="285"/>
            <ac:spMk id="3" creationId="{E4A0E06E-0A5E-5EBE-610C-546C785AD3D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950A7-7022-3025-9087-2E3B48B42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E9CAF0-07F2-1110-6F37-576FF36EAF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2EA900-32E5-CDCE-5CC1-33896FA1AB4B}"/>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5" name="Footer Placeholder 4">
            <a:extLst>
              <a:ext uri="{FF2B5EF4-FFF2-40B4-BE49-F238E27FC236}">
                <a16:creationId xmlns:a16="http://schemas.microsoft.com/office/drawing/2014/main" id="{EE2F0F47-2217-D1A6-85F9-C74D89817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B5559-4C25-A0B0-8D7B-C995DA6DBF4A}"/>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1893584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6DF1D-08E1-B210-6355-B283847164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20A32-E2B2-A43C-96A7-9616A22821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94A913-7349-36F0-08B7-3A48C682FFEA}"/>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5" name="Footer Placeholder 4">
            <a:extLst>
              <a:ext uri="{FF2B5EF4-FFF2-40B4-BE49-F238E27FC236}">
                <a16:creationId xmlns:a16="http://schemas.microsoft.com/office/drawing/2014/main" id="{9398FCA1-4CE0-6275-8BDE-84FCEE6096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CE66C-9114-12C6-B18C-CEB6CE89C555}"/>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228964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3D4C-9281-A46B-B9BB-D7CB6A63F7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FF408A-1633-F108-B834-45E8945820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2C9CEC-EE3C-C0C0-9266-DF87D92EEE91}"/>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5" name="Footer Placeholder 4">
            <a:extLst>
              <a:ext uri="{FF2B5EF4-FFF2-40B4-BE49-F238E27FC236}">
                <a16:creationId xmlns:a16="http://schemas.microsoft.com/office/drawing/2014/main" id="{CDCD26DE-AF06-41A6-1DDF-C52642CA5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4A8D74-1B94-067B-093A-86FB833407B0}"/>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1766698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EE901-17EE-9275-CEAF-854B6A91CE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3CDAAF-99B7-9831-3FEB-79400464CD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E3B67E-64A6-7468-0120-775008B1E6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DCF36B-70FB-9603-527F-46789E5C076D}"/>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6" name="Footer Placeholder 5">
            <a:extLst>
              <a:ext uri="{FF2B5EF4-FFF2-40B4-BE49-F238E27FC236}">
                <a16:creationId xmlns:a16="http://schemas.microsoft.com/office/drawing/2014/main" id="{B55930B0-27CE-1F42-D6DF-C631E75002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20770C-8C7E-E433-3926-375CD3451C37}"/>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3681668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95BE0-63B7-0796-A37C-AB9945DFB2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258488-EE73-7DE6-4101-FCC2EAA56C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4EA5FE-C28C-4C1A-6972-E0BC5C76F4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A3B6A9-6F8F-5686-E06D-19CC77B407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D8F9A4-C50E-4FCE-A853-5B0C234E20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2E92C8-3AE8-45B7-7214-91C0EDC43ED5}"/>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8" name="Footer Placeholder 7">
            <a:extLst>
              <a:ext uri="{FF2B5EF4-FFF2-40B4-BE49-F238E27FC236}">
                <a16:creationId xmlns:a16="http://schemas.microsoft.com/office/drawing/2014/main" id="{31F22CCE-FE61-EED0-4893-AF179C4700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5D8E89-912E-86F0-D8CC-A7F08DE6A2B6}"/>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1431471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D01E-1C81-FE66-0082-9F6F685D2C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7A3E6E-2C87-95B3-191F-507DE02D4D82}"/>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4" name="Footer Placeholder 3">
            <a:extLst>
              <a:ext uri="{FF2B5EF4-FFF2-40B4-BE49-F238E27FC236}">
                <a16:creationId xmlns:a16="http://schemas.microsoft.com/office/drawing/2014/main" id="{05B8BEB2-61E9-8CE0-3772-4526F62659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2C0246-A77F-78D2-2603-C203DC7960EC}"/>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3996202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893F41-240D-2F26-CBCA-8B988215F242}"/>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3" name="Footer Placeholder 2">
            <a:extLst>
              <a:ext uri="{FF2B5EF4-FFF2-40B4-BE49-F238E27FC236}">
                <a16:creationId xmlns:a16="http://schemas.microsoft.com/office/drawing/2014/main" id="{67358226-B615-A8DC-16CC-6EB69CA1D0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D64D38-8415-66F2-A06C-A8A7C190A4E9}"/>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274812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3E6D5-1AD5-00EA-8AE6-01725FB4DC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8B5196-EBA5-5DF7-73CD-86777522B6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D16175-ED02-C172-096B-98398A4444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5855B7-F9EF-1E13-B52D-305DC0EB0B83}"/>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6" name="Footer Placeholder 5">
            <a:extLst>
              <a:ext uri="{FF2B5EF4-FFF2-40B4-BE49-F238E27FC236}">
                <a16:creationId xmlns:a16="http://schemas.microsoft.com/office/drawing/2014/main" id="{1C1EA217-A58E-9F46-4397-CD1A493B10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86D2A2-CE03-8AFF-F6C5-A12B3C24B09F}"/>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732000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9A56A-B7DB-2A6D-0A82-EB93C09421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82C72E-364B-37E3-CFBE-E64D867F69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20F365-E903-C8C6-4796-EA2F167566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EECF1C-A137-5A10-3BD0-9D76B228BCC0}"/>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6" name="Footer Placeholder 5">
            <a:extLst>
              <a:ext uri="{FF2B5EF4-FFF2-40B4-BE49-F238E27FC236}">
                <a16:creationId xmlns:a16="http://schemas.microsoft.com/office/drawing/2014/main" id="{BDAD34C2-9591-9226-5357-449226512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2D508B-28DF-2AF2-4335-3996F971EC98}"/>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187336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EDD47-7F1C-1D27-FE27-44E1EF19C7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9C08E1-D449-ED1E-0327-5F0F748B51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5AB181-F237-5124-B528-1E2A95C0E4CA}"/>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5" name="Footer Placeholder 4">
            <a:extLst>
              <a:ext uri="{FF2B5EF4-FFF2-40B4-BE49-F238E27FC236}">
                <a16:creationId xmlns:a16="http://schemas.microsoft.com/office/drawing/2014/main" id="{7C2943CC-17C9-8800-9897-F2949A1364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E85CCC-B175-D3E4-8380-C6827DABCC0F}"/>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3316065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1AEDCA-DA3A-42DF-B7FE-D0605A24B1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9BCABF-FCE7-453E-03D4-E1699F9382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9451CC-14F4-F4BD-638A-BCFC205D56F7}"/>
              </a:ext>
            </a:extLst>
          </p:cNvPr>
          <p:cNvSpPr>
            <a:spLocks noGrp="1"/>
          </p:cNvSpPr>
          <p:nvPr>
            <p:ph type="dt" sz="half" idx="10"/>
          </p:nvPr>
        </p:nvSpPr>
        <p:spPr/>
        <p:txBody>
          <a:bodyPr/>
          <a:lstStyle/>
          <a:p>
            <a:fld id="{550B0E2E-CA7F-0344-BF00-6780680EBF9B}" type="datetimeFigureOut">
              <a:rPr lang="en-US" smtClean="0"/>
              <a:t>9/19/26</a:t>
            </a:fld>
            <a:endParaRPr lang="en-US"/>
          </a:p>
        </p:txBody>
      </p:sp>
      <p:sp>
        <p:nvSpPr>
          <p:cNvPr id="5" name="Footer Placeholder 4">
            <a:extLst>
              <a:ext uri="{FF2B5EF4-FFF2-40B4-BE49-F238E27FC236}">
                <a16:creationId xmlns:a16="http://schemas.microsoft.com/office/drawing/2014/main" id="{5A19D504-22F1-ED4D-0D85-227C5D1C33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92E37-E88E-B9A2-8732-0CE01B92DDCA}"/>
              </a:ext>
            </a:extLst>
          </p:cNvPr>
          <p:cNvSpPr>
            <a:spLocks noGrp="1"/>
          </p:cNvSpPr>
          <p:nvPr>
            <p:ph type="sldNum" sz="quarter" idx="12"/>
          </p:nvPr>
        </p:nvSpPr>
        <p:spPr/>
        <p:txBody>
          <a:bodyPr/>
          <a:lstStyle/>
          <a:p>
            <a:fld id="{269FA2BF-CAAF-4D4B-8CA7-CBE1790475E3}" type="slidenum">
              <a:rPr lang="en-US" smtClean="0"/>
              <a:t>‹#›</a:t>
            </a:fld>
            <a:endParaRPr lang="en-US"/>
          </a:p>
        </p:txBody>
      </p:sp>
    </p:spTree>
    <p:extLst>
      <p:ext uri="{BB962C8B-B14F-4D97-AF65-F5344CB8AC3E}">
        <p14:creationId xmlns:p14="http://schemas.microsoft.com/office/powerpoint/2010/main" val="874591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1423A8-36EE-F0C4-154B-9D01C40412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66BC4C1-B169-B6D1-BE31-BD75254961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25B6DB-C6B0-5440-6A65-0F5F0BA52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IBM Plex Sans ExtraLight" panose="020B0303050203000203" pitchFamily="34" charset="0"/>
              </a:defRPr>
            </a:lvl1pPr>
          </a:lstStyle>
          <a:p>
            <a:fld id="{550B0E2E-CA7F-0344-BF00-6780680EBF9B}" type="datetimeFigureOut">
              <a:rPr lang="en-US" smtClean="0"/>
              <a:pPr/>
              <a:t>9/19/26</a:t>
            </a:fld>
            <a:endParaRPr lang="en-US"/>
          </a:p>
        </p:txBody>
      </p:sp>
      <p:sp>
        <p:nvSpPr>
          <p:cNvPr id="5" name="Footer Placeholder 4">
            <a:extLst>
              <a:ext uri="{FF2B5EF4-FFF2-40B4-BE49-F238E27FC236}">
                <a16:creationId xmlns:a16="http://schemas.microsoft.com/office/drawing/2014/main" id="{AAED572D-94A1-6852-82BC-E3CEC4480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IBM Plex Sans ExtraLight" panose="020B0303050203000203" pitchFamily="34" charset="0"/>
              </a:defRPr>
            </a:lvl1pPr>
          </a:lstStyle>
          <a:p>
            <a:endParaRPr lang="en-US"/>
          </a:p>
        </p:txBody>
      </p:sp>
      <p:sp>
        <p:nvSpPr>
          <p:cNvPr id="6" name="Slide Number Placeholder 5">
            <a:extLst>
              <a:ext uri="{FF2B5EF4-FFF2-40B4-BE49-F238E27FC236}">
                <a16:creationId xmlns:a16="http://schemas.microsoft.com/office/drawing/2014/main" id="{DCFE4530-AFB2-ADD1-7C8B-A2611B4B27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IBM Plex Sans ExtraLight" panose="020B0303050203000203" pitchFamily="34" charset="0"/>
              </a:defRPr>
            </a:lvl1pPr>
          </a:lstStyle>
          <a:p>
            <a:fld id="{269FA2BF-CAAF-4D4B-8CA7-CBE1790475E3}" type="slidenum">
              <a:rPr lang="en-US" smtClean="0"/>
              <a:pPr/>
              <a:t>‹#›</a:t>
            </a:fld>
            <a:endParaRPr lang="en-US"/>
          </a:p>
        </p:txBody>
      </p:sp>
    </p:spTree>
    <p:extLst>
      <p:ext uri="{BB962C8B-B14F-4D97-AF65-F5344CB8AC3E}">
        <p14:creationId xmlns:p14="http://schemas.microsoft.com/office/powerpoint/2010/main" val="3226645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0" i="0" kern="1200">
          <a:solidFill>
            <a:schemeClr val="tx1"/>
          </a:solidFill>
          <a:latin typeface="IBM Plex Sans ExtraLight" panose="020B030305020300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IBM Plex Sans ExtraLight" panose="020B03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IBM Plex Sans ExtraLight" panose="020B03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IBM Plex Sans ExtraLight" panose="020B03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IBM Plex Sans ExtraLight" panose="020B03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IBM Plex Sans ExtraLight" panose="020B03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pi.itz-mlbbmo.infra01-lb.tok04.techzone.ibm.com:644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7B2CB-6C0D-68F5-2066-4EECAFFEAC5C}"/>
              </a:ext>
            </a:extLst>
          </p:cNvPr>
          <p:cNvSpPr>
            <a:spLocks noGrp="1"/>
          </p:cNvSpPr>
          <p:nvPr>
            <p:ph type="title"/>
          </p:nvPr>
        </p:nvSpPr>
        <p:spPr/>
        <p:txBody>
          <a:bodyPr/>
          <a:lstStyle/>
          <a:p>
            <a:r>
              <a:rPr lang="en-US" dirty="0"/>
              <a:t>IT Ops Persona</a:t>
            </a:r>
          </a:p>
        </p:txBody>
      </p:sp>
      <p:sp>
        <p:nvSpPr>
          <p:cNvPr id="3" name="Content Placeholder 2">
            <a:extLst>
              <a:ext uri="{FF2B5EF4-FFF2-40B4-BE49-F238E27FC236}">
                <a16:creationId xmlns:a16="http://schemas.microsoft.com/office/drawing/2014/main" id="{F5D9220D-A9EA-20FA-62E7-83BC3E44DC93}"/>
              </a:ext>
            </a:extLst>
          </p:cNvPr>
          <p:cNvSpPr>
            <a:spLocks noGrp="1"/>
          </p:cNvSpPr>
          <p:nvPr>
            <p:ph idx="1"/>
          </p:nvPr>
        </p:nvSpPr>
        <p:spPr/>
        <p:txBody>
          <a:bodyPr>
            <a:normAutofit fontScale="70000" lnSpcReduction="20000"/>
          </a:bodyPr>
          <a:lstStyle/>
          <a:p>
            <a:r>
              <a:rPr lang="en-ID" b="1" dirty="0"/>
              <a:t>Roles &amp; Responsibilities of IT Operations</a:t>
            </a:r>
          </a:p>
          <a:p>
            <a:r>
              <a:rPr lang="en-ID" b="1" dirty="0"/>
              <a:t>Ensuring Service Availability &amp; Business Continuity:</a:t>
            </a:r>
            <a:r>
              <a:rPr lang="en-ID" dirty="0"/>
              <a:t> Managing, monitoring, and optimizing core infrastructure, networks, and applications to maintain aggressive uptime SLAs and guarantee uninterrupted business workflows. </a:t>
            </a:r>
          </a:p>
          <a:p>
            <a:r>
              <a:rPr lang="en-ID" b="1" dirty="0"/>
              <a:t>Proactive Performance &amp; Incident Management:</a:t>
            </a:r>
            <a:r>
              <a:rPr lang="en-ID" dirty="0"/>
              <a:t> Driving rapid incident response, accelerating Mean Time to Resolution (MTTR), and leveraging system insights to identify and remediate root causes before they impact end-users. </a:t>
            </a:r>
          </a:p>
          <a:p>
            <a:r>
              <a:rPr lang="en-ID" b="1" dirty="0"/>
              <a:t>Compliance Readiness &amp; Data Governance:</a:t>
            </a:r>
            <a:r>
              <a:rPr lang="en-ID" dirty="0"/>
              <a:t> Enforcing security protocols, executing reliable system backups, and maintaining end-to-end data tracing and log retention to align with evolving regulatory frameworks and audit standards. </a:t>
            </a:r>
          </a:p>
          <a:p>
            <a:r>
              <a:rPr lang="en-ID" b="1" dirty="0"/>
              <a:t>Infrastructure Standardization &amp; Lifecycle Management:</a:t>
            </a:r>
            <a:r>
              <a:rPr lang="en-ID" dirty="0"/>
              <a:t> Coordinating system updates, maintaining configuration consistency across diverse data </a:t>
            </a:r>
            <a:r>
              <a:rPr lang="en-ID" dirty="0" err="1"/>
              <a:t>center</a:t>
            </a:r>
            <a:r>
              <a:rPr lang="en-ID" dirty="0"/>
              <a:t> environments, and managing application life cycles to mitigate technical debt.</a:t>
            </a:r>
          </a:p>
          <a:p>
            <a:r>
              <a:rPr lang="en-ID" b="1" dirty="0"/>
              <a:t>Knowledge Institutionalization &amp; Team Enablement:</a:t>
            </a:r>
            <a:r>
              <a:rPr lang="en-ID" dirty="0"/>
              <a:t> Structuring and centralizing critical operational logic, standard operating procedures, and tribal knowledge to eliminate operational silos and build a sustainable engineering culture.</a:t>
            </a:r>
          </a:p>
          <a:p>
            <a:endParaRPr lang="en-US" dirty="0"/>
          </a:p>
        </p:txBody>
      </p:sp>
    </p:spTree>
    <p:extLst>
      <p:ext uri="{BB962C8B-B14F-4D97-AF65-F5344CB8AC3E}">
        <p14:creationId xmlns:p14="http://schemas.microsoft.com/office/powerpoint/2010/main" val="4291402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6989-D76B-9782-24F5-1B961ADA3878}"/>
              </a:ext>
            </a:extLst>
          </p:cNvPr>
          <p:cNvSpPr>
            <a:spLocks noGrp="1"/>
          </p:cNvSpPr>
          <p:nvPr>
            <p:ph type="title"/>
          </p:nvPr>
        </p:nvSpPr>
        <p:spPr/>
        <p:txBody>
          <a:bodyPr/>
          <a:lstStyle/>
          <a:p>
            <a:r>
              <a:rPr lang="en-US" dirty="0"/>
              <a:t>IT Ops Pain Points</a:t>
            </a:r>
          </a:p>
        </p:txBody>
      </p:sp>
      <p:sp>
        <p:nvSpPr>
          <p:cNvPr id="3" name="Content Placeholder 2">
            <a:extLst>
              <a:ext uri="{FF2B5EF4-FFF2-40B4-BE49-F238E27FC236}">
                <a16:creationId xmlns:a16="http://schemas.microsoft.com/office/drawing/2014/main" id="{5765C35F-D75B-558E-1EC7-27CEFE44138E}"/>
              </a:ext>
            </a:extLst>
          </p:cNvPr>
          <p:cNvSpPr>
            <a:spLocks noGrp="1"/>
          </p:cNvSpPr>
          <p:nvPr>
            <p:ph idx="1"/>
          </p:nvPr>
        </p:nvSpPr>
        <p:spPr/>
        <p:txBody>
          <a:bodyPr>
            <a:normAutofit fontScale="62500" lnSpcReduction="20000"/>
          </a:bodyPr>
          <a:lstStyle/>
          <a:p>
            <a:r>
              <a:rPr lang="en-US" dirty="0"/>
              <a:t>The Integration Paradox: Bridging modern, agile digital channels with rigid, legacy core databases creates complex integration layers susceptible to unexpected cascading failures.</a:t>
            </a:r>
          </a:p>
          <a:p>
            <a:r>
              <a:rPr lang="en-US" dirty="0"/>
              <a:t>Fragmented Visibility &amp; Siloed Data: Monitoring tool sprawl and lack of end-to-end tracing across disparate systems leave blind spots, delaying incident identification and root-cause analysis.</a:t>
            </a:r>
          </a:p>
          <a:p>
            <a:r>
              <a:rPr lang="en-US" dirty="0"/>
              <a:t>Compounding Technical Debt: Maintenance overhead from out-of-support legacy tech absorbs engineering capacity, delaying digital innovation timelines and project deliveries.</a:t>
            </a:r>
          </a:p>
          <a:p>
            <a:r>
              <a:rPr lang="en-US" dirty="0"/>
              <a:t>Environment Divergence &amp; Drift: Managing configuration parity between on-premise infrastructure and digital environments compromises disaster recovery consistency and reliability.</a:t>
            </a:r>
          </a:p>
          <a:p>
            <a:r>
              <a:rPr lang="en-US" dirty="0"/>
              <a:t>Knowledge Stratification: Operational logic is often divided into silos—concentrated among legacy specialists or isolated in modern development teams—inhibiting unified knowledge sharing.</a:t>
            </a:r>
          </a:p>
          <a:p>
            <a:r>
              <a:rPr lang="en-US" dirty="0"/>
              <a:t>Compliance vs. Performance Trade-offs: Balancing extensive log capture required by strict regulatory compliance frameworks against storage costs and systemic database performance constraints.</a:t>
            </a:r>
          </a:p>
        </p:txBody>
      </p:sp>
    </p:spTree>
    <p:extLst>
      <p:ext uri="{BB962C8B-B14F-4D97-AF65-F5344CB8AC3E}">
        <p14:creationId xmlns:p14="http://schemas.microsoft.com/office/powerpoint/2010/main" val="1902064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68678-6A13-09BD-6B64-0E852BD25252}"/>
              </a:ext>
            </a:extLst>
          </p:cNvPr>
          <p:cNvSpPr>
            <a:spLocks noGrp="1"/>
          </p:cNvSpPr>
          <p:nvPr>
            <p:ph type="title"/>
          </p:nvPr>
        </p:nvSpPr>
        <p:spPr/>
        <p:txBody>
          <a:bodyPr/>
          <a:lstStyle/>
          <a:p>
            <a:r>
              <a:rPr lang="en-US" dirty="0"/>
              <a:t>What makes them unable to sleep?</a:t>
            </a:r>
          </a:p>
        </p:txBody>
      </p:sp>
      <p:sp>
        <p:nvSpPr>
          <p:cNvPr id="3" name="Content Placeholder 2">
            <a:extLst>
              <a:ext uri="{FF2B5EF4-FFF2-40B4-BE49-F238E27FC236}">
                <a16:creationId xmlns:a16="http://schemas.microsoft.com/office/drawing/2014/main" id="{E498FD7C-92F7-265B-9308-12B129E24EA4}"/>
              </a:ext>
            </a:extLst>
          </p:cNvPr>
          <p:cNvSpPr>
            <a:spLocks noGrp="1"/>
          </p:cNvSpPr>
          <p:nvPr>
            <p:ph idx="1"/>
          </p:nvPr>
        </p:nvSpPr>
        <p:spPr/>
        <p:txBody>
          <a:bodyPr>
            <a:normAutofit fontScale="25000" lnSpcReduction="20000"/>
          </a:bodyPr>
          <a:lstStyle/>
          <a:p>
            <a:r>
              <a:rPr lang="en-ID" b="1" dirty="0"/>
              <a:t>1. The Fear of Cascading Failure ("The Domino Effect")</a:t>
            </a:r>
          </a:p>
          <a:p>
            <a:r>
              <a:rPr lang="en-ID" dirty="0"/>
              <a:t>The enterprise operates a tightly coupled architecture where everything flows from digital channels through a single load balancer, into an integration hub (ESB), and directly into core backend databases.</a:t>
            </a:r>
          </a:p>
          <a:p>
            <a:r>
              <a:rPr lang="en-ID" b="1" dirty="0"/>
              <a:t>The Night Terror:</a:t>
            </a:r>
            <a:r>
              <a:rPr lang="en-ID" dirty="0"/>
              <a:t> There are no circuit breakers or automated failovers. A minor network glitch or a 5% packet loss incident can easily cascade into a complete, multi-hour systemic outage affecting millions of transactions. They sleep with the anxiety that one small domino will tip the entire infrastructure over.</a:t>
            </a:r>
          </a:p>
          <a:p>
            <a:r>
              <a:rPr lang="en-ID" b="1" dirty="0"/>
              <a:t>2. Flying Blind (Severe Observability Blind Spots)</a:t>
            </a:r>
          </a:p>
          <a:p>
            <a:r>
              <a:rPr lang="en-ID" dirty="0"/>
              <a:t>There is a profound lack of unified tracing across the application, database, and integration layers.</a:t>
            </a:r>
          </a:p>
          <a:p>
            <a:r>
              <a:rPr lang="en-ID" b="1" dirty="0"/>
              <a:t>The Night Terror:</a:t>
            </a:r>
            <a:r>
              <a:rPr lang="en-ID" dirty="0"/>
              <a:t> When a system slows down or fails, they don't have a dashboard to show them why. Instead, they must manually log into different servers, pull fragmented logs, and piece together clues under immense pressure. It turns troubleshooting into an exhausting, high-stakes guessing game.</a:t>
            </a:r>
          </a:p>
          <a:p>
            <a:r>
              <a:rPr lang="en-ID" b="1" dirty="0"/>
              <a:t>3. The Compliance Deficit Clock</a:t>
            </a:r>
          </a:p>
          <a:p>
            <a:r>
              <a:rPr lang="en-ID" dirty="0"/>
              <a:t>Due to storage cost constraints, critical transaction logs are deleted after just 7 days (and ESB logs after 30 days). However, financial regulatory bodies (like OJK) mandate a 7-year retention period.</a:t>
            </a:r>
          </a:p>
          <a:p>
            <a:r>
              <a:rPr lang="en-ID" b="1" dirty="0"/>
              <a:t>The Night Terror:</a:t>
            </a:r>
            <a:r>
              <a:rPr lang="en-ID" dirty="0"/>
              <a:t> This exposes the company to massive regulatory fines (up to Rp 5 billion). Additionally, if a customer complains about an error from two weeks ago, the evidence is gone. IT Ops is forced to approve unverified reimbursements to protect the company's reputation, living in fear of the next compliance audit.</a:t>
            </a:r>
          </a:p>
          <a:p>
            <a:r>
              <a:rPr lang="en-ID" b="1" dirty="0"/>
              <a:t>4. "Zombie Applications" &amp; Dependency Hell</a:t>
            </a:r>
          </a:p>
          <a:p>
            <a:r>
              <a:rPr lang="en-ID" dirty="0"/>
              <a:t>The enterprise runs nearly 50 applications in production, but over a third of them are unmaintained "zombies" with unknown business owners and undocumented purposes.</a:t>
            </a:r>
          </a:p>
          <a:p>
            <a:r>
              <a:rPr lang="en-ID" b="1" dirty="0"/>
              <a:t>The Night Terror:</a:t>
            </a:r>
            <a:r>
              <a:rPr lang="en-ID" dirty="0"/>
              <a:t> Because there is no real-time dependency mapping, IT Ops lives in fear of standard maintenance windows. They are terrified to restart a server or apply a patch because a shadow integration (like an automated script built directly into a database by another department) might unexpectedly break, crippling a core business function.</a:t>
            </a:r>
          </a:p>
          <a:p>
            <a:r>
              <a:rPr lang="en-ID" b="1" dirty="0"/>
              <a:t>5. Single Points of Failure in Human Capital</a:t>
            </a:r>
          </a:p>
          <a:p>
            <a:r>
              <a:rPr lang="en-ID" dirty="0"/>
              <a:t>Critical, complex legacy logic (such as thousands of lines of undocumented loan calculation code) is locked entirely inside the heads of a few aging senior engineers.</a:t>
            </a:r>
          </a:p>
          <a:p>
            <a:r>
              <a:rPr lang="en-ID" b="1" dirty="0"/>
              <a:t>The Night Terror:</a:t>
            </a:r>
            <a:r>
              <a:rPr lang="en-ID" dirty="0"/>
              <a:t> If a core system fails at 2 AM, only one specific person might know how to fix it. If that person is unreachable, sick, or decides to retire, the operational knowledge vanishes. The team is entirely dependent on individuals rather than standard, automated operating procedures.</a:t>
            </a:r>
          </a:p>
          <a:p>
            <a:r>
              <a:rPr lang="en-ID" b="1" dirty="0"/>
              <a:t>6. The "WhatsApp Culture" of Incident Management</a:t>
            </a:r>
          </a:p>
          <a:p>
            <a:r>
              <a:rPr lang="en-ID" dirty="0"/>
              <a:t>Because staff are too busy firefighting to write traditional documentation, critical operational workarounds and troubleshooting steps are buried across dozens of unstructured, unsearchable WhatsApp groups.</a:t>
            </a:r>
          </a:p>
          <a:p>
            <a:r>
              <a:rPr lang="en-ID" b="1" dirty="0"/>
              <a:t>The Night Terror:</a:t>
            </a:r>
            <a:r>
              <a:rPr lang="en-ID" dirty="0"/>
              <a:t> Finding the solution to an emergency means frantically scrolling through chaotic chat histories in the middle of the night, praying someone remembers what worked the last time the system crashed.</a:t>
            </a:r>
          </a:p>
          <a:p>
            <a:r>
              <a:rPr lang="en-ID" dirty="0"/>
              <a:t>Ultimately, they cannot sleep because </a:t>
            </a:r>
            <a:r>
              <a:rPr lang="en-ID" b="1" dirty="0"/>
              <a:t>stability is sustained by heroic human effort rather than systematic automation.</a:t>
            </a:r>
            <a:r>
              <a:rPr lang="en-ID" dirty="0"/>
              <a:t> They are constantly waiting for the next unavoidable emergency.</a:t>
            </a:r>
          </a:p>
          <a:p>
            <a:endParaRPr lang="en-US" dirty="0"/>
          </a:p>
        </p:txBody>
      </p:sp>
    </p:spTree>
    <p:extLst>
      <p:ext uri="{BB962C8B-B14F-4D97-AF65-F5344CB8AC3E}">
        <p14:creationId xmlns:p14="http://schemas.microsoft.com/office/powerpoint/2010/main" val="3622486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916C2-A28C-EF73-A87B-ED7D12A3382B}"/>
              </a:ext>
            </a:extLst>
          </p:cNvPr>
          <p:cNvSpPr>
            <a:spLocks noGrp="1"/>
          </p:cNvSpPr>
          <p:nvPr>
            <p:ph type="title"/>
          </p:nvPr>
        </p:nvSpPr>
        <p:spPr/>
        <p:txBody>
          <a:bodyPr/>
          <a:lstStyle/>
          <a:p>
            <a:r>
              <a:rPr lang="en-US" dirty="0"/>
              <a:t>How can Agentic Coding help fill the gap</a:t>
            </a:r>
          </a:p>
        </p:txBody>
      </p:sp>
      <p:sp>
        <p:nvSpPr>
          <p:cNvPr id="3" name="Content Placeholder 2">
            <a:extLst>
              <a:ext uri="{FF2B5EF4-FFF2-40B4-BE49-F238E27FC236}">
                <a16:creationId xmlns:a16="http://schemas.microsoft.com/office/drawing/2014/main" id="{00259C77-BB3E-E666-3547-6A0E1DA9BF9E}"/>
              </a:ext>
            </a:extLst>
          </p:cNvPr>
          <p:cNvSpPr>
            <a:spLocks noGrp="1"/>
          </p:cNvSpPr>
          <p:nvPr>
            <p:ph idx="1"/>
          </p:nvPr>
        </p:nvSpPr>
        <p:spPr/>
        <p:txBody>
          <a:bodyPr/>
          <a:lstStyle/>
          <a:p>
            <a:r>
              <a:rPr lang="en-US" dirty="0"/>
              <a:t>Increase IT Ops productivity to run certain commands quickly</a:t>
            </a:r>
          </a:p>
          <a:p>
            <a:r>
              <a:rPr lang="en-US" dirty="0"/>
              <a:t>Build in-house apps to increase IT Ops productivity</a:t>
            </a:r>
          </a:p>
          <a:p>
            <a:r>
              <a:rPr lang="en-US" dirty="0"/>
              <a:t>Accelerate Infrastructure as Code</a:t>
            </a:r>
          </a:p>
        </p:txBody>
      </p:sp>
    </p:spTree>
    <p:extLst>
      <p:ext uri="{BB962C8B-B14F-4D97-AF65-F5344CB8AC3E}">
        <p14:creationId xmlns:p14="http://schemas.microsoft.com/office/powerpoint/2010/main" val="3929174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25F72-D716-3971-27B2-4539EA6EDFAA}"/>
              </a:ext>
            </a:extLst>
          </p:cNvPr>
          <p:cNvSpPr>
            <a:spLocks noGrp="1"/>
          </p:cNvSpPr>
          <p:nvPr>
            <p:ph type="title"/>
          </p:nvPr>
        </p:nvSpPr>
        <p:spPr/>
        <p:txBody>
          <a:bodyPr/>
          <a:lstStyle/>
          <a:p>
            <a:r>
              <a:rPr lang="en-US" dirty="0"/>
              <a:t>Use cases</a:t>
            </a:r>
          </a:p>
        </p:txBody>
      </p:sp>
      <p:sp>
        <p:nvSpPr>
          <p:cNvPr id="3" name="Content Placeholder 2">
            <a:extLst>
              <a:ext uri="{FF2B5EF4-FFF2-40B4-BE49-F238E27FC236}">
                <a16:creationId xmlns:a16="http://schemas.microsoft.com/office/drawing/2014/main" id="{C334E80B-BE98-2048-CE35-232CAC8B7CEF}"/>
              </a:ext>
            </a:extLst>
          </p:cNvPr>
          <p:cNvSpPr>
            <a:spLocks noGrp="1"/>
          </p:cNvSpPr>
          <p:nvPr>
            <p:ph idx="1"/>
          </p:nvPr>
        </p:nvSpPr>
        <p:spPr/>
        <p:txBody>
          <a:bodyPr>
            <a:normAutofit fontScale="25000" lnSpcReduction="20000"/>
          </a:bodyPr>
          <a:lstStyle/>
          <a:p>
            <a:r>
              <a:rPr lang="en-ID" dirty="0"/>
              <a:t>Beyond the fundamental tasks of quick command execution, custom tool development, and basic Infrastructure as Code (</a:t>
            </a:r>
            <a:r>
              <a:rPr lang="en-ID" dirty="0" err="1"/>
              <a:t>IaC</a:t>
            </a:r>
            <a:r>
              <a:rPr lang="en-ID" dirty="0"/>
              <a:t>) generation, agentic coding—where autonomous AI agents actively write, test, debug, and optimize code—can serve as a powerful force multiplier for an IT Operations team trapped in a legacy-heavy environment. </a:t>
            </a:r>
          </a:p>
          <a:p>
            <a:r>
              <a:rPr lang="en-ID" dirty="0"/>
              <a:t>By </a:t>
            </a:r>
            <a:r>
              <a:rPr lang="en-ID" dirty="0" err="1"/>
              <a:t>analyzing</a:t>
            </a:r>
            <a:r>
              <a:rPr lang="en-ID" dirty="0"/>
              <a:t> the specific technical constraints and structural gaps of a "Fragile Giant" enterprise, here is how agentic software development can systematically resolve complex operational challenges:</a:t>
            </a:r>
          </a:p>
          <a:p>
            <a:r>
              <a:rPr lang="en-ID" b="1" dirty="0"/>
              <a:t>🛡️ Autonomous Remediation &amp; Managed Auto-Scaling</a:t>
            </a:r>
          </a:p>
          <a:p>
            <a:r>
              <a:rPr lang="en-ID" dirty="0"/>
              <a:t>In complex setups, standard infrastructure scaling rules fail because they cannot account for historical dependencies or system nuances. Agentic coding moves the system closer to a true self-healing state: </a:t>
            </a:r>
          </a:p>
          <a:p>
            <a:r>
              <a:rPr lang="en-ID" b="1" dirty="0"/>
              <a:t>Dynamic Runbook Synthesis:</a:t>
            </a:r>
            <a:r>
              <a:rPr lang="en-ID" dirty="0"/>
              <a:t> Instead of relying on static scripts, AI agents can assess an incoming multi-layer incident alert, synthesize a context-aware remediation script, and execute it in a sandbox before applying it to production. </a:t>
            </a:r>
          </a:p>
          <a:p>
            <a:r>
              <a:rPr lang="en-ID" b="1" dirty="0"/>
              <a:t>Contextual Scaling &amp; Fallback Code Execution:</a:t>
            </a:r>
            <a:r>
              <a:rPr lang="en-ID" dirty="0"/>
              <a:t> When memory or connection pools approach exhaustion, an AI agent can dynamically script and deploy a traffic-shaping mechanism or spin up isolated micro-gateways on a temporary basis to preserve the core ecosystem. </a:t>
            </a:r>
          </a:p>
          <a:p>
            <a:r>
              <a:rPr lang="en-ID" b="1" dirty="0"/>
              <a:t>🔍 Log Extraction &amp; Real-Time Format Mapping</a:t>
            </a:r>
          </a:p>
          <a:p>
            <a:r>
              <a:rPr lang="en-ID" dirty="0"/>
              <a:t>A major issue in hybrid environments is that critical operational data is lost because teams lack the time to build parsers for scattered, legacy-formatted logs. </a:t>
            </a:r>
          </a:p>
          <a:p>
            <a:r>
              <a:rPr lang="en-ID" b="1" dirty="0"/>
              <a:t>Automated Mainframe &amp; Legacy Log Parsing:</a:t>
            </a:r>
            <a:r>
              <a:rPr lang="en-ID" dirty="0"/>
              <a:t> AI agents can be deployed directly to write custom, ad-hoc wrapper code capable of capturing ephemeral COBOL batch outputs or CICS circular buffers. The agent dynamically maps these archaic data structures into uniform JSON schemas. </a:t>
            </a:r>
          </a:p>
          <a:p>
            <a:r>
              <a:rPr lang="en-ID" b="1" dirty="0"/>
              <a:t>Dynamic Distributed Tracing Insertion:</a:t>
            </a:r>
            <a:r>
              <a:rPr lang="en-ID" dirty="0"/>
              <a:t> Agents can inject correlation IDs dynamically into legacy application codebases and modern endpoints without manual human review, closing critical end-to-end visibility blind spots. </a:t>
            </a:r>
          </a:p>
          <a:p>
            <a:r>
              <a:rPr lang="en-ID" b="1" dirty="0"/>
              <a:t>🗺️ Live Dependency Mapping &amp; Change Impact Pre-Testing</a:t>
            </a:r>
          </a:p>
          <a:p>
            <a:r>
              <a:rPr lang="en-ID" dirty="0"/>
              <a:t>IT Ops teams frequently avoid critical database maintenance because they cannot visualize the true blast radius of system changes. </a:t>
            </a:r>
          </a:p>
          <a:p>
            <a:r>
              <a:rPr lang="en-ID" b="1" dirty="0"/>
              <a:t>Automated Source &amp; Script Scavenging:</a:t>
            </a:r>
            <a:r>
              <a:rPr lang="en-ID" dirty="0"/>
              <a:t> Coding agents can scan database configurations, network routing tables, and server file systems to find undocumented automated payment scripts, Excel macros, or shadow IT direct connections. </a:t>
            </a:r>
          </a:p>
          <a:p>
            <a:r>
              <a:rPr lang="en-ID" b="1" dirty="0"/>
              <a:t>Simulated Change Impact Analysis:</a:t>
            </a:r>
            <a:r>
              <a:rPr lang="en-ID" dirty="0"/>
              <a:t> The agent can parse discovered scripts, trace their exact data lineage, and auto-generate an interactive, live system dependency </a:t>
            </a:r>
            <a:r>
              <a:rPr lang="en-ID" dirty="0" err="1"/>
              <a:t>catalog</a:t>
            </a:r>
            <a:r>
              <a:rPr lang="en-ID" dirty="0"/>
              <a:t>. Before a live database patch, the agent can model exactly what scripts or application features will fail. </a:t>
            </a:r>
          </a:p>
          <a:p>
            <a:r>
              <a:rPr lang="en-ID" b="1" dirty="0"/>
              <a:t>❄️ Continuous Environment Drift Resolution</a:t>
            </a:r>
          </a:p>
          <a:p>
            <a:r>
              <a:rPr lang="en-ID" dirty="0"/>
              <a:t>Even with </a:t>
            </a:r>
            <a:r>
              <a:rPr lang="en-ID" dirty="0" err="1"/>
              <a:t>IaC</a:t>
            </a:r>
            <a:r>
              <a:rPr lang="en-ID" dirty="0"/>
              <a:t>, multi-region configurations suffer from manual emergency patches applied over time, leading to highly customized "snowflake" server profiles. </a:t>
            </a:r>
          </a:p>
          <a:p>
            <a:r>
              <a:rPr lang="en-ID" b="1" dirty="0"/>
              <a:t>Reverse-Engineering Server Baselines:</a:t>
            </a:r>
            <a:r>
              <a:rPr lang="en-ID" dirty="0"/>
              <a:t> AI coding agents can systematically examine production environments across multiple regional data </a:t>
            </a:r>
            <a:r>
              <a:rPr lang="en-ID" dirty="0" err="1"/>
              <a:t>centers</a:t>
            </a:r>
            <a:r>
              <a:rPr lang="en-ID" dirty="0"/>
              <a:t>. They </a:t>
            </a:r>
            <a:r>
              <a:rPr lang="en-ID" dirty="0" err="1"/>
              <a:t>analyze</a:t>
            </a:r>
            <a:r>
              <a:rPr lang="en-ID" dirty="0"/>
              <a:t> disparities in Java versions, kernel configurations, and OS variables to automatically write the remediation code needed to align the systems with standard infrastructure definitions. </a:t>
            </a:r>
          </a:p>
          <a:p>
            <a:r>
              <a:rPr lang="en-ID" b="1" dirty="0"/>
              <a:t>Validating DR Write Configurations:</a:t>
            </a:r>
            <a:r>
              <a:rPr lang="en-ID" dirty="0"/>
              <a:t> Agents can build and run automated framework code to continuously simulate full heavy-write workloads across regional endpoints, exposing serialization errors or CA certificate trust issues before a real disaster scenario hits. </a:t>
            </a:r>
          </a:p>
          <a:p>
            <a:r>
              <a:rPr lang="en-ID" b="1" dirty="0"/>
              <a:t>🔀 Data Quality Anomaly Correction</a:t>
            </a:r>
          </a:p>
          <a:p>
            <a:r>
              <a:rPr lang="en-ID" dirty="0"/>
              <a:t>Silent data corruption—such as decimal precision rounding bugs or character string encoding mismatches—often goes entirely unnoticed until financial reconciliation audits uncover discrepancies weeks later. </a:t>
            </a:r>
          </a:p>
          <a:p>
            <a:r>
              <a:rPr lang="en-ID" b="1" dirty="0"/>
              <a:t>Autonomous Reconciliation Testing:</a:t>
            </a:r>
            <a:r>
              <a:rPr lang="en-ID" dirty="0"/>
              <a:t> Agentic AI can continually </a:t>
            </a:r>
            <a:r>
              <a:rPr lang="en-ID" dirty="0" err="1"/>
              <a:t>analyze</a:t>
            </a:r>
            <a:r>
              <a:rPr lang="en-ID" dirty="0"/>
              <a:t> incoming database changes and API endpoints. </a:t>
            </a:r>
          </a:p>
          <a:p>
            <a:r>
              <a:rPr lang="en-ID" b="1" dirty="0"/>
              <a:t>Ad-Hoc </a:t>
            </a:r>
            <a:r>
              <a:rPr lang="en-ID" b="1" dirty="0" err="1"/>
              <a:t>Hotfixing</a:t>
            </a:r>
            <a:r>
              <a:rPr lang="en-ID" b="1" dirty="0"/>
              <a:t>:</a:t>
            </a:r>
            <a:r>
              <a:rPr lang="en-ID" dirty="0"/>
              <a:t> If an agent detects that a character formatting shift is turning user entries into "NULL" strings or garbled characters, it can immediately deploy a programmatic validation layer to scrub inputs, alert the database administrator, and keep downstream systems clean. </a:t>
            </a:r>
          </a:p>
          <a:p>
            <a:r>
              <a:rPr lang="en-ID" b="1" dirty="0"/>
              <a:t>⏳ Safe Technical Debt Decomposition</a:t>
            </a:r>
          </a:p>
          <a:p>
            <a:r>
              <a:rPr lang="en-ID" dirty="0"/>
              <a:t>Managing decades of cumulative technical debt often traps senior engineering resources in perpetual cycles of maintenance and band-aid fixes. </a:t>
            </a:r>
          </a:p>
          <a:p>
            <a:r>
              <a:rPr lang="en-ID" b="1" dirty="0"/>
              <a:t>Legacy Code Modernization Assistants:</a:t>
            </a:r>
            <a:r>
              <a:rPr lang="en-ID" dirty="0"/>
              <a:t> AI agents can ingest vast, undocumented stored procedures (e.g., 15,000+ lines of critical loan calculation code) and generate automated code annotations, docstrings, and integration tests. </a:t>
            </a:r>
          </a:p>
          <a:p>
            <a:r>
              <a:rPr lang="en-ID" b="1" dirty="0"/>
              <a:t>Safe Microservices Refactoring:</a:t>
            </a:r>
            <a:r>
              <a:rPr lang="en-ID" dirty="0"/>
              <a:t> An agent can iteratively dissect monolithic architectures by writing modern API wrapper layers, ensuring business rules remain completely unaffected while laying the safe groundwork for cloud migration. </a:t>
            </a:r>
          </a:p>
          <a:p>
            <a:r>
              <a:rPr lang="en-ID" b="1" dirty="0"/>
              <a:t>💬 Institutionalizing Knowledge via "WhatsApp to Runbook" Pipelines</a:t>
            </a:r>
          </a:p>
          <a:p>
            <a:r>
              <a:rPr lang="en-ID" dirty="0"/>
              <a:t>In high-pressure environments, vital system fixes are often discussed informally in fast-moving chat groups, leaving zero formal trace in official wikis or knowledge repositories. </a:t>
            </a:r>
          </a:p>
          <a:p>
            <a:r>
              <a:rPr lang="en-ID" b="1" dirty="0"/>
              <a:t>Extracting Implicit Insights:</a:t>
            </a:r>
            <a:r>
              <a:rPr lang="en-ID" dirty="0"/>
              <a:t> Autonomous agents can integrate securely with internal communication data streams to continuously identify diagnostic snippets, terminal logs, and screenshots pasted by senior specialists during outages. </a:t>
            </a:r>
          </a:p>
          <a:p>
            <a:r>
              <a:rPr lang="en-ID" b="1" dirty="0"/>
              <a:t>Automating Standard Operating Procedures:</a:t>
            </a:r>
            <a:r>
              <a:rPr lang="en-ID" dirty="0"/>
              <a:t> The agent reconstructs the fragmented context, converts the casual discussion into formal markdown files, maps the logic to specific code assets, and automatically generates verifiable, execute-ready runbooks for future incidents. </a:t>
            </a:r>
          </a:p>
          <a:p>
            <a:endParaRPr lang="en-US" dirty="0"/>
          </a:p>
        </p:txBody>
      </p:sp>
    </p:spTree>
    <p:extLst>
      <p:ext uri="{BB962C8B-B14F-4D97-AF65-F5344CB8AC3E}">
        <p14:creationId xmlns:p14="http://schemas.microsoft.com/office/powerpoint/2010/main" val="3264330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BD6A1-8239-A33F-8478-2BCCFCCF9025}"/>
              </a:ext>
            </a:extLst>
          </p:cNvPr>
          <p:cNvSpPr>
            <a:spLocks noGrp="1"/>
          </p:cNvSpPr>
          <p:nvPr>
            <p:ph type="title"/>
          </p:nvPr>
        </p:nvSpPr>
        <p:spPr/>
        <p:txBody>
          <a:bodyPr/>
          <a:lstStyle/>
          <a:p>
            <a:r>
              <a:rPr lang="en-US" dirty="0"/>
              <a:t>Bob for </a:t>
            </a:r>
            <a:r>
              <a:rPr lang="en-US" dirty="0" err="1"/>
              <a:t>ITOps</a:t>
            </a:r>
            <a:endParaRPr lang="en-US" dirty="0"/>
          </a:p>
        </p:txBody>
      </p:sp>
      <p:sp>
        <p:nvSpPr>
          <p:cNvPr id="3" name="Content Placeholder 2">
            <a:extLst>
              <a:ext uri="{FF2B5EF4-FFF2-40B4-BE49-F238E27FC236}">
                <a16:creationId xmlns:a16="http://schemas.microsoft.com/office/drawing/2014/main" id="{58565345-EB9F-7D93-0386-7124382F4F3F}"/>
              </a:ext>
            </a:extLst>
          </p:cNvPr>
          <p:cNvSpPr>
            <a:spLocks noGrp="1"/>
          </p:cNvSpPr>
          <p:nvPr>
            <p:ph idx="1"/>
          </p:nvPr>
        </p:nvSpPr>
        <p:spPr/>
        <p:txBody>
          <a:bodyPr>
            <a:normAutofit fontScale="85000" lnSpcReduction="20000"/>
          </a:bodyPr>
          <a:lstStyle/>
          <a:p>
            <a:r>
              <a:rPr lang="en-US" dirty="0"/>
              <a:t>Tasks:</a:t>
            </a:r>
          </a:p>
          <a:p>
            <a:pPr lvl="1"/>
            <a:r>
              <a:rPr lang="en-US" dirty="0"/>
              <a:t>Installation</a:t>
            </a:r>
          </a:p>
          <a:p>
            <a:pPr lvl="1"/>
            <a:r>
              <a:rPr lang="en-US" dirty="0"/>
              <a:t>Configure</a:t>
            </a:r>
          </a:p>
          <a:p>
            <a:pPr lvl="1"/>
            <a:r>
              <a:rPr lang="en-US" dirty="0"/>
              <a:t>Deploy apps to production</a:t>
            </a:r>
          </a:p>
          <a:p>
            <a:pPr lvl="1"/>
            <a:r>
              <a:rPr lang="en-US" dirty="0"/>
              <a:t>Monitor</a:t>
            </a:r>
          </a:p>
          <a:p>
            <a:pPr lvl="1"/>
            <a:r>
              <a:rPr lang="en-US" dirty="0"/>
              <a:t>Fix</a:t>
            </a:r>
          </a:p>
          <a:p>
            <a:pPr lvl="1"/>
            <a:r>
              <a:rPr lang="en-US" dirty="0"/>
              <a:t>Health-check</a:t>
            </a:r>
          </a:p>
          <a:p>
            <a:r>
              <a:rPr lang="en-US" dirty="0"/>
              <a:t>Technology:</a:t>
            </a:r>
          </a:p>
          <a:p>
            <a:pPr lvl="1"/>
            <a:r>
              <a:rPr lang="en-US" dirty="0" err="1"/>
              <a:t>Openshift</a:t>
            </a:r>
            <a:endParaRPr lang="en-US" dirty="0"/>
          </a:p>
          <a:p>
            <a:pPr lvl="1"/>
            <a:r>
              <a:rPr lang="en-US" dirty="0"/>
              <a:t>WebSphere / Tomcat</a:t>
            </a:r>
          </a:p>
          <a:p>
            <a:pPr lvl="1"/>
            <a:r>
              <a:rPr lang="en-US" dirty="0"/>
              <a:t>Database: DB2, Postgres</a:t>
            </a:r>
          </a:p>
          <a:p>
            <a:pPr lvl="1"/>
            <a:r>
              <a:rPr lang="en-US" dirty="0"/>
              <a:t>VMWare</a:t>
            </a:r>
          </a:p>
          <a:p>
            <a:pPr lvl="1"/>
            <a:r>
              <a:rPr lang="en-US" dirty="0"/>
              <a:t>IBM Power</a:t>
            </a:r>
          </a:p>
          <a:p>
            <a:pPr lvl="1"/>
            <a:r>
              <a:rPr lang="en-US" dirty="0"/>
              <a:t>Dynatrace</a:t>
            </a:r>
          </a:p>
        </p:txBody>
      </p:sp>
    </p:spTree>
    <p:extLst>
      <p:ext uri="{BB962C8B-B14F-4D97-AF65-F5344CB8AC3E}">
        <p14:creationId xmlns:p14="http://schemas.microsoft.com/office/powerpoint/2010/main" val="3886289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A9B0-7B44-898C-51C5-6448DD12DB32}"/>
              </a:ext>
            </a:extLst>
          </p:cNvPr>
          <p:cNvSpPr>
            <a:spLocks noGrp="1"/>
          </p:cNvSpPr>
          <p:nvPr>
            <p:ph type="title"/>
          </p:nvPr>
        </p:nvSpPr>
        <p:spPr/>
        <p:txBody>
          <a:bodyPr/>
          <a:lstStyle/>
          <a:p>
            <a:r>
              <a:rPr lang="en-US" dirty="0"/>
              <a:t>3 ways of using bob for Agentic </a:t>
            </a:r>
            <a:r>
              <a:rPr lang="en-US" dirty="0" err="1"/>
              <a:t>ITOps</a:t>
            </a:r>
            <a:endParaRPr lang="en-US" dirty="0"/>
          </a:p>
        </p:txBody>
      </p:sp>
      <p:sp>
        <p:nvSpPr>
          <p:cNvPr id="3" name="Content Placeholder 2">
            <a:extLst>
              <a:ext uri="{FF2B5EF4-FFF2-40B4-BE49-F238E27FC236}">
                <a16:creationId xmlns:a16="http://schemas.microsoft.com/office/drawing/2014/main" id="{E4A0E06E-0A5E-5EBE-610C-546C785AD3D2}"/>
              </a:ext>
            </a:extLst>
          </p:cNvPr>
          <p:cNvSpPr>
            <a:spLocks noGrp="1"/>
          </p:cNvSpPr>
          <p:nvPr>
            <p:ph idx="1"/>
          </p:nvPr>
        </p:nvSpPr>
        <p:spPr/>
        <p:txBody>
          <a:bodyPr/>
          <a:lstStyle/>
          <a:p>
            <a:r>
              <a:rPr lang="en-US" dirty="0"/>
              <a:t>Interactive using Bob IDE</a:t>
            </a:r>
          </a:p>
          <a:p>
            <a:r>
              <a:rPr lang="en-US" dirty="0"/>
              <a:t>Non-interactive using Bob Shell CLI</a:t>
            </a:r>
          </a:p>
          <a:p>
            <a:r>
              <a:rPr lang="en-US" dirty="0"/>
              <a:t>Orchestrated using custom app with multiple parallel Bob shell running as container on </a:t>
            </a:r>
            <a:r>
              <a:rPr lang="en-US" dirty="0" err="1"/>
              <a:t>Openshift</a:t>
            </a:r>
            <a:endParaRPr lang="en-US" dirty="0"/>
          </a:p>
        </p:txBody>
      </p:sp>
    </p:spTree>
    <p:extLst>
      <p:ext uri="{BB962C8B-B14F-4D97-AF65-F5344CB8AC3E}">
        <p14:creationId xmlns:p14="http://schemas.microsoft.com/office/powerpoint/2010/main" val="162276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BA49A-5479-FFF0-55A4-BA446BAE6702}"/>
              </a:ext>
            </a:extLst>
          </p:cNvPr>
          <p:cNvSpPr>
            <a:spLocks noGrp="1"/>
          </p:cNvSpPr>
          <p:nvPr>
            <p:ph type="title"/>
          </p:nvPr>
        </p:nvSpPr>
        <p:spPr/>
        <p:txBody>
          <a:bodyPr/>
          <a:lstStyle/>
          <a:p>
            <a:r>
              <a:rPr lang="en-US" dirty="0"/>
              <a:t>Demo: Agentic RCA </a:t>
            </a:r>
          </a:p>
        </p:txBody>
      </p:sp>
      <p:sp>
        <p:nvSpPr>
          <p:cNvPr id="3" name="Content Placeholder 2">
            <a:extLst>
              <a:ext uri="{FF2B5EF4-FFF2-40B4-BE49-F238E27FC236}">
                <a16:creationId xmlns:a16="http://schemas.microsoft.com/office/drawing/2014/main" id="{4DD61B8D-5803-8EEF-5A35-3F4059D3D4D6}"/>
              </a:ext>
            </a:extLst>
          </p:cNvPr>
          <p:cNvSpPr>
            <a:spLocks noGrp="1"/>
          </p:cNvSpPr>
          <p:nvPr>
            <p:ph idx="1"/>
          </p:nvPr>
        </p:nvSpPr>
        <p:spPr/>
        <p:txBody>
          <a:bodyPr>
            <a:normAutofit fontScale="47500" lnSpcReduction="20000"/>
          </a:bodyPr>
          <a:lstStyle/>
          <a:p>
            <a:r>
              <a:rPr lang="en-ID" dirty="0"/>
              <a:t>Query </a:t>
            </a:r>
            <a:r>
              <a:rPr lang="en-ID" dirty="0" err="1"/>
              <a:t>Instana</a:t>
            </a:r>
            <a:endParaRPr lang="en-ID" dirty="0"/>
          </a:p>
          <a:p>
            <a:r>
              <a:rPr lang="en-ID" dirty="0"/>
              <a:t>Show me the errors happening on Robot-Shop application on </a:t>
            </a:r>
            <a:r>
              <a:rPr lang="en-ID" dirty="0" err="1"/>
              <a:t>Instana</a:t>
            </a:r>
            <a:endParaRPr lang="en-ID" dirty="0"/>
          </a:p>
          <a:p>
            <a:r>
              <a:rPr lang="en-ID" dirty="0"/>
              <a:t>INSTANA_BASE_URL=https://</a:t>
            </a:r>
            <a:r>
              <a:rPr lang="en-ID" dirty="0" err="1"/>
              <a:t>ibmdevsandbox-instanaibm.instana.io</a:t>
            </a:r>
            <a:r>
              <a:rPr lang="en-ID" dirty="0"/>
              <a:t>/</a:t>
            </a:r>
          </a:p>
          <a:p>
            <a:r>
              <a:rPr lang="en-ID" dirty="0"/>
              <a:t>INSTANA_API_TOKEN=wgxm8j6QTJ659cEJTk-GBQ</a:t>
            </a:r>
          </a:p>
          <a:p>
            <a:pPr marL="0" indent="0">
              <a:buNone/>
            </a:pPr>
            <a:br>
              <a:rPr lang="en-ID" dirty="0"/>
            </a:br>
            <a:endParaRPr lang="en-ID" dirty="0"/>
          </a:p>
          <a:p>
            <a:r>
              <a:rPr lang="en-ID" dirty="0"/>
              <a:t>RCA the application issue</a:t>
            </a:r>
          </a:p>
          <a:p>
            <a:r>
              <a:rPr lang="en-ID" dirty="0"/>
              <a:t>Robot-shop application deployed on </a:t>
            </a:r>
            <a:r>
              <a:rPr lang="en-ID" dirty="0" err="1"/>
              <a:t>Openshift</a:t>
            </a:r>
            <a:r>
              <a:rPr lang="en-ID" dirty="0"/>
              <a:t> is down. Check the application deployment on </a:t>
            </a:r>
            <a:r>
              <a:rPr lang="en-ID" dirty="0" err="1"/>
              <a:t>openshift</a:t>
            </a:r>
            <a:r>
              <a:rPr lang="en-ID" dirty="0"/>
              <a:t> and find the root cause of the issue. </a:t>
            </a:r>
          </a:p>
          <a:p>
            <a:r>
              <a:rPr lang="en-ID" dirty="0" err="1"/>
              <a:t>oc</a:t>
            </a:r>
            <a:r>
              <a:rPr lang="en-ID" dirty="0"/>
              <a:t> login --token=sha256~LBiMxGsnC6NCTnu9v_1j05c3scN5XJTloc3p0EvO2FA --server=</a:t>
            </a:r>
            <a:r>
              <a:rPr lang="en-ID" dirty="0">
                <a:hlinkClick r:id="rId2"/>
              </a:rPr>
              <a:t>https://api.itz-mlbbmo.infra01-lb.tok04.techzone.ibm.com:6443</a:t>
            </a:r>
            <a:endParaRPr lang="en-ID" dirty="0"/>
          </a:p>
          <a:p>
            <a:pPr marL="0" indent="0">
              <a:buNone/>
            </a:pPr>
            <a:br>
              <a:rPr lang="en-ID" dirty="0"/>
            </a:br>
            <a:endParaRPr lang="en-ID" dirty="0"/>
          </a:p>
          <a:p>
            <a:r>
              <a:rPr lang="en-ID" dirty="0"/>
              <a:t>Coordinated Agentic SRE</a:t>
            </a:r>
          </a:p>
          <a:p>
            <a:pPr lvl="0"/>
            <a:r>
              <a:rPr lang="en-ID" dirty="0"/>
              <a:t>Parallel check by Bob agents on application using </a:t>
            </a:r>
            <a:r>
              <a:rPr lang="en-ID" dirty="0" err="1"/>
              <a:t>Instana</a:t>
            </a:r>
            <a:r>
              <a:rPr lang="en-ID" dirty="0"/>
              <a:t> Observability data, </a:t>
            </a:r>
            <a:r>
              <a:rPr lang="en-ID" dirty="0" err="1"/>
              <a:t>Openshift</a:t>
            </a:r>
            <a:r>
              <a:rPr lang="en-ID" dirty="0"/>
              <a:t> platform check and Infrastructure health</a:t>
            </a:r>
          </a:p>
          <a:p>
            <a:pPr lvl="0"/>
            <a:r>
              <a:rPr lang="en-ID" dirty="0"/>
              <a:t>Aggregate the result by a bob agent</a:t>
            </a:r>
          </a:p>
          <a:p>
            <a:r>
              <a:rPr lang="en-ID" sz="800" dirty="0"/>
              <a:t>• </a:t>
            </a:r>
            <a:r>
              <a:rPr lang="en-ID" sz="2400" dirty="0"/>
              <a:t>⁃ </a:t>
            </a:r>
            <a:r>
              <a:rPr lang="en-ID" dirty="0"/>
              <a:t>Generate RCA, impact analysis, remediation actions and Ansible automation script to remediate</a:t>
            </a:r>
          </a:p>
          <a:p>
            <a:endParaRPr lang="en-US" dirty="0"/>
          </a:p>
        </p:txBody>
      </p:sp>
    </p:spTree>
    <p:extLst>
      <p:ext uri="{BB962C8B-B14F-4D97-AF65-F5344CB8AC3E}">
        <p14:creationId xmlns:p14="http://schemas.microsoft.com/office/powerpoint/2010/main" val="3219088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27021</TotalTime>
  <Words>1990</Words>
  <Application>Microsoft Macintosh PowerPoint</Application>
  <PresentationFormat>Widescreen</PresentationFormat>
  <Paragraphs>102</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IBM Plex Sans ExtraLight</vt:lpstr>
      <vt:lpstr>Office Theme</vt:lpstr>
      <vt:lpstr>IT Ops Persona</vt:lpstr>
      <vt:lpstr>IT Ops Pain Points</vt:lpstr>
      <vt:lpstr>What makes them unable to sleep?</vt:lpstr>
      <vt:lpstr>How can Agentic Coding help fill the gap</vt:lpstr>
      <vt:lpstr>Use cases</vt:lpstr>
      <vt:lpstr>Bob for ITOps</vt:lpstr>
      <vt:lpstr>3 ways of using bob for Agentic ITOps</vt:lpstr>
      <vt:lpstr>Demo: Agentic RCA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WINTON WINTON</dc:creator>
  <cp:lastModifiedBy>WINTON WINTON</cp:lastModifiedBy>
  <cp:revision>3</cp:revision>
  <dcterms:created xsi:type="dcterms:W3CDTF">2026-05-11T07:48:34Z</dcterms:created>
  <dcterms:modified xsi:type="dcterms:W3CDTF">2026-09-19T07:35:16Z</dcterms:modified>
</cp:coreProperties>
</file>